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84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9" r:id="rId16"/>
    <p:sldId id="304" r:id="rId17"/>
    <p:sldId id="305" r:id="rId18"/>
    <p:sldId id="306" r:id="rId19"/>
    <p:sldId id="300" r:id="rId20"/>
    <p:sldId id="307" r:id="rId21"/>
    <p:sldId id="308" r:id="rId22"/>
    <p:sldId id="301" r:id="rId23"/>
    <p:sldId id="309" r:id="rId24"/>
    <p:sldId id="310" r:id="rId25"/>
    <p:sldId id="311" r:id="rId26"/>
    <p:sldId id="285" r:id="rId27"/>
  </p:sldIdLst>
  <p:sldSz cx="9144000" cy="6858000" type="screen4x3"/>
  <p:notesSz cx="7315200" cy="96012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830"/>
    <a:srgbClr val="022969"/>
    <a:srgbClr val="EDB638"/>
    <a:srgbClr val="FCF7EA"/>
    <a:srgbClr val="990033"/>
    <a:srgbClr val="B5B6BC"/>
    <a:srgbClr val="091751"/>
    <a:srgbClr val="022152"/>
    <a:srgbClr val="1B2569"/>
    <a:srgbClr val="F1B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85" autoAdjust="0"/>
    <p:restoredTop sz="99911" autoAdjust="0"/>
  </p:normalViewPr>
  <p:slideViewPr>
    <p:cSldViewPr snapToGrid="0" snapToObjects="1">
      <p:cViewPr varScale="1">
        <p:scale>
          <a:sx n="93" d="100"/>
          <a:sy n="93" d="100"/>
        </p:scale>
        <p:origin x="6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ADA3-E19F-8448-AF50-04D160250ED2}" type="datetimeFigureOut">
              <a:rPr lang="es-ES" smtClean="0"/>
              <a:t>29/09/2021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D071-027D-F34A-A12D-D4F31515B47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868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ADA3-E19F-8448-AF50-04D160250ED2}" type="datetimeFigureOut">
              <a:rPr lang="es-ES" smtClean="0"/>
              <a:t>29/09/2021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D071-027D-F34A-A12D-D4F31515B47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046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ADA3-E19F-8448-AF50-04D160250ED2}" type="datetimeFigureOut">
              <a:rPr lang="es-ES" smtClean="0"/>
              <a:t>29/09/2021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D071-027D-F34A-A12D-D4F31515B47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8957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ADA3-E19F-8448-AF50-04D160250ED2}" type="datetimeFigureOut">
              <a:rPr lang="es-ES" smtClean="0"/>
              <a:t>29/09/2021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D071-027D-F34A-A12D-D4F31515B47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701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ADA3-E19F-8448-AF50-04D160250ED2}" type="datetimeFigureOut">
              <a:rPr lang="es-ES" smtClean="0"/>
              <a:t>29/09/2021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D071-027D-F34A-A12D-D4F31515B47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405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ADA3-E19F-8448-AF50-04D160250ED2}" type="datetimeFigureOut">
              <a:rPr lang="es-ES" smtClean="0"/>
              <a:t>29/09/2021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D071-027D-F34A-A12D-D4F31515B47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3246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ADA3-E19F-8448-AF50-04D160250ED2}" type="datetimeFigureOut">
              <a:rPr lang="es-ES" smtClean="0"/>
              <a:t>29/09/2021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D071-027D-F34A-A12D-D4F31515B47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6997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ADA3-E19F-8448-AF50-04D160250ED2}" type="datetimeFigureOut">
              <a:rPr lang="es-ES" smtClean="0"/>
              <a:t>29/09/2021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D071-027D-F34A-A12D-D4F31515B47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3108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ADA3-E19F-8448-AF50-04D160250ED2}" type="datetimeFigureOut">
              <a:rPr lang="es-ES" smtClean="0"/>
              <a:t>29/09/2021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D071-027D-F34A-A12D-D4F31515B47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641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ADA3-E19F-8448-AF50-04D160250ED2}" type="datetimeFigureOut">
              <a:rPr lang="es-ES" smtClean="0"/>
              <a:t>29/09/2021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D071-027D-F34A-A12D-D4F31515B47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239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ADA3-E19F-8448-AF50-04D160250ED2}" type="datetimeFigureOut">
              <a:rPr lang="es-ES" smtClean="0"/>
              <a:t>29/09/2021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D071-027D-F34A-A12D-D4F31515B47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975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AADA3-E19F-8448-AF50-04D160250ED2}" type="datetimeFigureOut">
              <a:rPr lang="es-ES" smtClean="0"/>
              <a:t>29/09/2021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4D071-027D-F34A-A12D-D4F31515B47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244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10.16.8.36:7803/em/faces/logon/core-uifwk-console-logi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0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412" y="471004"/>
            <a:ext cx="6027542" cy="6400800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160606" y="4781179"/>
            <a:ext cx="5113142" cy="803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70000"/>
              </a:lnSpc>
            </a:pPr>
            <a:r>
              <a:rPr lang="es-ES" sz="3200" dirty="0" smtClean="0">
                <a:solidFill>
                  <a:srgbClr val="022969"/>
                </a:solidFill>
                <a:latin typeface="Calibri"/>
                <a:cs typeface="Calibri"/>
              </a:rPr>
              <a:t>Oracle Enterprise Manager</a:t>
            </a:r>
          </a:p>
          <a:p>
            <a:pPr algn="r">
              <a:lnSpc>
                <a:spcPct val="70000"/>
              </a:lnSpc>
            </a:pPr>
            <a:r>
              <a:rPr lang="es-ES" sz="3200" b="1" dirty="0" smtClean="0">
                <a:solidFill>
                  <a:srgbClr val="022969"/>
                </a:solidFill>
                <a:latin typeface="Calibri"/>
                <a:cs typeface="Calibri"/>
              </a:rPr>
              <a:t>Monitoreo de rendimiento</a:t>
            </a:r>
          </a:p>
        </p:txBody>
      </p:sp>
      <p:pic>
        <p:nvPicPr>
          <p:cNvPr id="2" name="Imagen 1" descr="bda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801" y="5328344"/>
            <a:ext cx="2178261" cy="37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07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147771" y="1254996"/>
            <a:ext cx="716427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400" b="1" dirty="0" smtClean="0">
                <a:solidFill>
                  <a:srgbClr val="C00830"/>
                </a:solidFill>
                <a:latin typeface="Calibri"/>
                <a:cs typeface="Calibri"/>
              </a:rPr>
              <a:t>Propósito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latin typeface="Calibri"/>
                <a:cs typeface="Calibri"/>
              </a:rPr>
              <a:t>Monitoreo de rendimiento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latin typeface="Calibri"/>
                <a:cs typeface="Calibri"/>
              </a:rPr>
              <a:t>Revisión de estructura de sentencias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latin typeface="Calibri"/>
                <a:cs typeface="Calibri"/>
              </a:rPr>
              <a:t>Revisión de planes de ejecución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Tomar acción antes de producción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b="1" dirty="0" smtClean="0">
              <a:solidFill>
                <a:srgbClr val="C00830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01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49129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ORACLE ENTERPRISE MANAGER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14" name="Imagen 13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1" y="1413672"/>
            <a:ext cx="106036" cy="188458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 rotWithShape="1">
          <a:blip r:embed="rId5"/>
          <a:srcRect t="19873" b="22537"/>
          <a:stretch/>
        </p:blipFill>
        <p:spPr>
          <a:xfrm>
            <a:off x="1605855" y="2994596"/>
            <a:ext cx="4523341" cy="231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71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872881" y="1275046"/>
            <a:ext cx="716427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sz="2400" b="1" dirty="0" err="1" smtClean="0">
                <a:solidFill>
                  <a:srgbClr val="C00830"/>
                </a:solidFill>
                <a:latin typeface="Calibri"/>
                <a:cs typeface="Calibri"/>
              </a:rPr>
              <a:t>Queries</a:t>
            </a:r>
            <a:r>
              <a:rPr lang="es-EC" sz="2400" b="1" dirty="0" smtClean="0">
                <a:solidFill>
                  <a:srgbClr val="C00830"/>
                </a:solidFill>
                <a:latin typeface="Calibri"/>
                <a:cs typeface="Calibri"/>
              </a:rPr>
              <a:t> </a:t>
            </a:r>
            <a:r>
              <a:rPr lang="es-EC" sz="2400" b="1" dirty="0">
                <a:solidFill>
                  <a:srgbClr val="C00830"/>
                </a:solidFill>
                <a:latin typeface="Calibri"/>
                <a:cs typeface="Calibri"/>
              </a:rPr>
              <a:t>con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err="1" smtClean="0">
                <a:solidFill>
                  <a:srgbClr val="022969"/>
                </a:solidFill>
                <a:latin typeface="Calibri"/>
                <a:cs typeface="Calibri"/>
              </a:rPr>
              <a:t>Likes</a:t>
            </a:r>
            <a:endParaRPr lang="es-EC" b="1" dirty="0">
              <a:solidFill>
                <a:srgbClr val="022969"/>
              </a:solidFill>
              <a:latin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err="1" smtClean="0">
                <a:solidFill>
                  <a:srgbClr val="022969"/>
                </a:solidFill>
                <a:latin typeface="Calibri"/>
                <a:cs typeface="Calibri"/>
              </a:rPr>
              <a:t>Distincts</a:t>
            </a:r>
            <a:endParaRPr lang="es-EC" b="1" dirty="0" smtClean="0">
              <a:solidFill>
                <a:srgbClr val="022969"/>
              </a:solidFill>
              <a:latin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err="1" smtClean="0">
                <a:solidFill>
                  <a:srgbClr val="022969"/>
                </a:solidFill>
                <a:latin typeface="Calibri"/>
                <a:cs typeface="Calibri"/>
              </a:rPr>
              <a:t>Select</a:t>
            </a:r>
            <a:r>
              <a:rPr lang="es-EC" b="1" dirty="0" smtClean="0">
                <a:solidFill>
                  <a:srgbClr val="022969"/>
                </a:solidFill>
                <a:latin typeface="Calibri"/>
                <a:cs typeface="Calibri"/>
              </a:rPr>
              <a:t> </a:t>
            </a:r>
            <a:r>
              <a:rPr lang="es-EC" b="1" dirty="0" err="1" smtClean="0">
                <a:solidFill>
                  <a:srgbClr val="022969"/>
                </a:solidFill>
                <a:latin typeface="Calibri"/>
                <a:cs typeface="Calibri"/>
              </a:rPr>
              <a:t>for</a:t>
            </a:r>
            <a:r>
              <a:rPr lang="es-EC" b="1" dirty="0" smtClean="0">
                <a:solidFill>
                  <a:srgbClr val="022969"/>
                </a:solidFill>
                <a:latin typeface="Calibri"/>
                <a:cs typeface="Calibri"/>
              </a:rPr>
              <a:t> </a:t>
            </a:r>
            <a:r>
              <a:rPr lang="es-EC" b="1" dirty="0" err="1" smtClean="0">
                <a:solidFill>
                  <a:srgbClr val="022969"/>
                </a:solidFill>
                <a:latin typeface="Calibri"/>
                <a:cs typeface="Calibri"/>
              </a:rPr>
              <a:t>update</a:t>
            </a:r>
            <a:endParaRPr lang="es-EC" b="1" dirty="0">
              <a:solidFill>
                <a:srgbClr val="022969"/>
              </a:solidFill>
              <a:latin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b="1" dirty="0">
              <a:solidFill>
                <a:srgbClr val="C00830"/>
              </a:solidFill>
              <a:cs typeface="Calibri"/>
            </a:endParaRPr>
          </a:p>
          <a:p>
            <a:pPr lvl="1"/>
            <a:r>
              <a:rPr lang="es-EC" sz="2400" b="1" dirty="0" err="1" smtClean="0">
                <a:solidFill>
                  <a:srgbClr val="C00830"/>
                </a:solidFill>
                <a:latin typeface="Calibri"/>
                <a:cs typeface="Calibri"/>
              </a:rPr>
              <a:t>Queries</a:t>
            </a:r>
            <a:r>
              <a:rPr lang="es-EC" sz="2400" b="1" dirty="0" smtClean="0">
                <a:solidFill>
                  <a:srgbClr val="C00830"/>
                </a:solidFill>
                <a:latin typeface="Calibri"/>
                <a:cs typeface="Calibri"/>
              </a:rPr>
              <a:t> </a:t>
            </a:r>
            <a:r>
              <a:rPr lang="es-EC" sz="2400" b="1" dirty="0">
                <a:solidFill>
                  <a:srgbClr val="C00830"/>
                </a:solidFill>
                <a:latin typeface="Calibri"/>
                <a:cs typeface="Calibri"/>
              </a:rPr>
              <a:t>pesados que se demoren debido 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err="1">
                <a:solidFill>
                  <a:srgbClr val="022969"/>
                </a:solidFill>
                <a:latin typeface="Calibri"/>
                <a:cs typeface="Calibri"/>
              </a:rPr>
              <a:t>Table</a:t>
            </a:r>
            <a:r>
              <a:rPr lang="es-EC" b="1" dirty="0">
                <a:solidFill>
                  <a:srgbClr val="022969"/>
                </a:solidFill>
                <a:latin typeface="Calibri"/>
                <a:cs typeface="Calibri"/>
              </a:rPr>
              <a:t> Access full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latin typeface="Calibri"/>
                <a:cs typeface="Calibri"/>
              </a:rPr>
              <a:t>Excesivos </a:t>
            </a:r>
            <a:r>
              <a:rPr lang="es-EC" b="1" dirty="0" err="1">
                <a:solidFill>
                  <a:srgbClr val="022969"/>
                </a:solidFill>
                <a:latin typeface="Calibri"/>
                <a:cs typeface="Calibri"/>
              </a:rPr>
              <a:t>selects</a:t>
            </a:r>
            <a:r>
              <a:rPr lang="es-EC" b="1" dirty="0">
                <a:solidFill>
                  <a:srgbClr val="022969"/>
                </a:solidFill>
                <a:latin typeface="Calibri"/>
                <a:cs typeface="Calibri"/>
              </a:rPr>
              <a:t> anidados (</a:t>
            </a:r>
            <a:r>
              <a:rPr lang="es-EC" b="1" dirty="0" err="1">
                <a:solidFill>
                  <a:srgbClr val="022969"/>
                </a:solidFill>
                <a:latin typeface="Calibri"/>
                <a:cs typeface="Calibri"/>
              </a:rPr>
              <a:t>subselects</a:t>
            </a:r>
            <a:r>
              <a:rPr lang="es-EC" b="1" dirty="0">
                <a:solidFill>
                  <a:srgbClr val="022969"/>
                </a:solidFill>
                <a:latin typeface="Calibri"/>
                <a:cs typeface="Calibri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latin typeface="Calibri"/>
                <a:cs typeface="Calibri"/>
              </a:rPr>
              <a:t>Sintaxis de </a:t>
            </a:r>
            <a:r>
              <a:rPr lang="es-EC" b="1" dirty="0" err="1">
                <a:solidFill>
                  <a:srgbClr val="022969"/>
                </a:solidFill>
                <a:latin typeface="Calibri"/>
                <a:cs typeface="Calibri"/>
              </a:rPr>
              <a:t>join</a:t>
            </a:r>
            <a:r>
              <a:rPr lang="es-EC" b="1" dirty="0">
                <a:solidFill>
                  <a:srgbClr val="022969"/>
                </a:solidFill>
                <a:latin typeface="Calibri"/>
                <a:cs typeface="Calibri"/>
              </a:rPr>
              <a:t> con </a:t>
            </a:r>
            <a:r>
              <a:rPr lang="es-EC" b="1" dirty="0" smtClean="0">
                <a:solidFill>
                  <a:srgbClr val="022969"/>
                </a:solidFill>
                <a:latin typeface="Calibri"/>
                <a:cs typeface="Calibri"/>
              </a:rPr>
              <a:t>coma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latin typeface="Calibri"/>
                <a:cs typeface="Calibri"/>
              </a:rPr>
              <a:t>Mal estructurados</a:t>
            </a:r>
            <a:endParaRPr lang="es-EC" b="1" dirty="0">
              <a:solidFill>
                <a:srgbClr val="022969"/>
              </a:solidFill>
              <a:latin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b="1" dirty="0" smtClean="0">
              <a:solidFill>
                <a:srgbClr val="C00830"/>
              </a:solidFill>
              <a:latin typeface="Calibri"/>
              <a:cs typeface="Calibri"/>
            </a:endParaRPr>
          </a:p>
          <a:p>
            <a:pPr lvl="1"/>
            <a:endParaRPr lang="es-EC" b="1" dirty="0" smtClean="0">
              <a:solidFill>
                <a:srgbClr val="C00830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02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6202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necesita revisar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14" name="Imagen 13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1" y="1413672"/>
            <a:ext cx="106036" cy="188458"/>
          </a:xfrm>
          <a:prstGeom prst="rect">
            <a:avLst/>
          </a:prstGeom>
        </p:spPr>
      </p:pic>
      <p:pic>
        <p:nvPicPr>
          <p:cNvPr id="16" name="Imagen 15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05" y="2590032"/>
            <a:ext cx="106036" cy="18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1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147771" y="1254996"/>
            <a:ext cx="716427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400" b="1" dirty="0" smtClean="0">
                <a:solidFill>
                  <a:srgbClr val="C00830"/>
                </a:solidFill>
                <a:latin typeface="Calibri"/>
                <a:cs typeface="Calibri"/>
              </a:rPr>
              <a:t>Pantalla de </a:t>
            </a:r>
            <a:r>
              <a:rPr lang="es-EC" sz="2400" b="1" dirty="0" err="1" smtClean="0">
                <a:solidFill>
                  <a:srgbClr val="C00830"/>
                </a:solidFill>
                <a:latin typeface="Calibri"/>
                <a:cs typeface="Calibri"/>
              </a:rPr>
              <a:t>login</a:t>
            </a:r>
            <a:endParaRPr lang="es-EC" sz="2400" b="1" dirty="0" smtClean="0">
              <a:solidFill>
                <a:srgbClr val="C00830"/>
              </a:solidFill>
              <a:latin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latin typeface="Calibri"/>
                <a:cs typeface="Calibri"/>
              </a:rPr>
              <a:t>Ingresar credenciales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latin typeface="Calibri"/>
                <a:cs typeface="Calibri"/>
              </a:rPr>
              <a:t>Se proporcionara un usuario genérico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latin typeface="Calibri"/>
                <a:cs typeface="Calibri"/>
              </a:rPr>
              <a:t>Link: </a:t>
            </a:r>
            <a:r>
              <a:rPr lang="es-EC" dirty="0"/>
              <a:t> </a:t>
            </a:r>
            <a:r>
              <a:rPr lang="es-EC" sz="1600" u="sng" dirty="0">
                <a:hlinkClick r:id="rId2" tooltip="https://10.16.8.36:7803/em/faces/logon/core-uifwk-console-login"/>
              </a:rPr>
              <a:t>https://</a:t>
            </a:r>
            <a:r>
              <a:rPr lang="es-EC" sz="1600" u="sng" dirty="0" smtClean="0">
                <a:hlinkClick r:id="rId2" tooltip="https://10.16.8.36:7803/em/faces/logon/core-uifwk-console-login"/>
              </a:rPr>
              <a:t>10.16.8.36:7803/em/faces/logon/core-uifwk-console-login</a:t>
            </a:r>
            <a:endParaRPr lang="es-EC" sz="1600" u="sng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sz="1600" b="1" dirty="0" smtClean="0">
                <a:solidFill>
                  <a:srgbClr val="022969"/>
                </a:solidFill>
                <a:latin typeface="Calibri"/>
                <a:cs typeface="Calibri"/>
              </a:rPr>
              <a:t>Se requiere un explorador con soporte para Flash Player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C" sz="1600" b="1" dirty="0" smtClean="0">
                <a:solidFill>
                  <a:srgbClr val="022969"/>
                </a:solidFill>
                <a:latin typeface="Calibri"/>
                <a:cs typeface="Calibri"/>
              </a:rPr>
              <a:t>Mesa de ayuda</a:t>
            </a:r>
            <a:endParaRPr lang="es-EC" sz="1600" b="1" dirty="0" smtClean="0">
              <a:solidFill>
                <a:srgbClr val="022969"/>
              </a:solidFill>
              <a:latin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b="1" dirty="0" smtClean="0">
              <a:solidFill>
                <a:srgbClr val="C00830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5" name="Rectángulo 24"/>
          <p:cNvSpPr/>
          <p:nvPr/>
        </p:nvSpPr>
        <p:spPr>
          <a:xfrm>
            <a:off x="428529" y="6234758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 smtClean="0">
                <a:solidFill>
                  <a:srgbClr val="141D75"/>
                </a:solidFill>
                <a:latin typeface="Calibri"/>
                <a:cs typeface="Calibri"/>
              </a:rPr>
              <a:t>09</a:t>
            </a:r>
            <a:endParaRPr lang="es-ES" sz="1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03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23462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Como Ingresar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1027" name="Imagen 4" descr="image00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137" y="3103075"/>
            <a:ext cx="3822712" cy="313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635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147771" y="1254996"/>
            <a:ext cx="716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b="1" dirty="0">
                <a:solidFill>
                  <a:srgbClr val="022969"/>
                </a:solidFill>
                <a:cs typeface="Calibri"/>
              </a:rPr>
              <a:t>Ir a targets, luego a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databases</a:t>
            </a:r>
            <a:endParaRPr lang="es-EC" b="1" dirty="0" smtClean="0">
              <a:solidFill>
                <a:srgbClr val="C00830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03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23462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Como Ingresar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2050" name="Imagen 2" descr="image01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76" t="662" r="207" b="-662"/>
          <a:stretch/>
        </p:blipFill>
        <p:spPr bwMode="auto">
          <a:xfrm>
            <a:off x="334873" y="1915130"/>
            <a:ext cx="8451512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439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147771" y="1254996"/>
            <a:ext cx="716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b="1" dirty="0" smtClean="0">
                <a:solidFill>
                  <a:srgbClr val="022969"/>
                </a:solidFill>
                <a:cs typeface="Calibri"/>
              </a:rPr>
              <a:t>Ingresar a la BD de desarrollo o QA</a:t>
            </a:r>
            <a:endParaRPr lang="es-EC" b="1" dirty="0" smtClean="0">
              <a:solidFill>
                <a:srgbClr val="C00830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03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23462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Como Ingresar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300" y="1647726"/>
            <a:ext cx="5857143" cy="866667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68507" y="2800215"/>
            <a:ext cx="396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b="1" dirty="0" smtClean="0">
                <a:solidFill>
                  <a:srgbClr val="022969"/>
                </a:solidFill>
                <a:cs typeface="Calibri"/>
              </a:rPr>
              <a:t>En performance ir a Top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activity</a:t>
            </a:r>
            <a:endParaRPr lang="es-EC" b="1" dirty="0" smtClean="0">
              <a:solidFill>
                <a:srgbClr val="C00830"/>
              </a:solidFill>
              <a:cs typeface="Calibri"/>
            </a:endParaRPr>
          </a:p>
        </p:txBody>
      </p:sp>
      <p:pic>
        <p:nvPicPr>
          <p:cNvPr id="3075" name="Imagen 6" descr="image01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15" y="3267866"/>
            <a:ext cx="392430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uadroTexto 14"/>
          <p:cNvSpPr txBox="1"/>
          <p:nvPr/>
        </p:nvSpPr>
        <p:spPr>
          <a:xfrm>
            <a:off x="4343288" y="2800215"/>
            <a:ext cx="396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b="1" dirty="0" smtClean="0">
                <a:solidFill>
                  <a:srgbClr val="022969"/>
                </a:solidFill>
                <a:cs typeface="Calibri"/>
              </a:rPr>
              <a:t>Ingresar credenciales de la BD</a:t>
            </a:r>
            <a:endParaRPr lang="es-EC" b="1" dirty="0" smtClean="0">
              <a:solidFill>
                <a:srgbClr val="C00830"/>
              </a:solidFill>
              <a:cs typeface="Calibri"/>
            </a:endParaRPr>
          </a:p>
        </p:txBody>
      </p:sp>
      <p:pic>
        <p:nvPicPr>
          <p:cNvPr id="3076" name="Imagen 7" descr="image02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093" y="3261899"/>
            <a:ext cx="203835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088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147771" y="1254996"/>
            <a:ext cx="4759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b="1" dirty="0" smtClean="0">
                <a:solidFill>
                  <a:srgbClr val="022969"/>
                </a:solidFill>
                <a:cs typeface="Calibri"/>
              </a:rPr>
              <a:t>Revisar las sentencias que mas consumen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CPU 		– </a:t>
            </a:r>
            <a:r>
              <a:rPr lang="es-EC" b="1" dirty="0" smtClean="0">
                <a:solidFill>
                  <a:srgbClr val="00B050"/>
                </a:solidFill>
                <a:cs typeface="Calibri"/>
              </a:rPr>
              <a:t>verde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IO 		– </a:t>
            </a:r>
            <a:r>
              <a:rPr lang="es-EC" b="1" dirty="0" smtClean="0">
                <a:solidFill>
                  <a:schemeClr val="tx2">
                    <a:lumMod val="60000"/>
                    <a:lumOff val="40000"/>
                  </a:schemeClr>
                </a:solidFill>
                <a:cs typeface="Calibri"/>
              </a:rPr>
              <a:t>Azul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Bloqueos 	- </a:t>
            </a:r>
            <a:r>
              <a:rPr lang="es-EC" b="1" dirty="0" smtClean="0">
                <a:solidFill>
                  <a:srgbClr val="FF0000"/>
                </a:solidFill>
                <a:cs typeface="Calibri"/>
              </a:rPr>
              <a:t>Rojo </a:t>
            </a: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04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1897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revisar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4098" name="Imagen 9" descr="image02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55" y="2415741"/>
            <a:ext cx="7646460" cy="3627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087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147771" y="1254996"/>
            <a:ext cx="475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b="1" dirty="0" smtClean="0">
                <a:solidFill>
                  <a:srgbClr val="022969"/>
                </a:solidFill>
                <a:cs typeface="Calibri"/>
              </a:rPr>
              <a:t>Ingresar a la sentencia para ver su consumo</a:t>
            </a: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5122" name="Imagen 9" descr="image02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39" r="47676"/>
          <a:stretch/>
        </p:blipFill>
        <p:spPr bwMode="auto">
          <a:xfrm>
            <a:off x="1147771" y="1896228"/>
            <a:ext cx="6334453" cy="2300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04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13" name="Imagen 12" descr="flecha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14" name="Conector recto 13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ángulo 14"/>
          <p:cNvSpPr/>
          <p:nvPr/>
        </p:nvSpPr>
        <p:spPr>
          <a:xfrm>
            <a:off x="1605855" y="303189"/>
            <a:ext cx="1897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revisar</a:t>
            </a:r>
          </a:p>
        </p:txBody>
      </p:sp>
    </p:spTree>
    <p:extLst>
      <p:ext uri="{BB962C8B-B14F-4D97-AF65-F5344CB8AC3E}">
        <p14:creationId xmlns:p14="http://schemas.microsoft.com/office/powerpoint/2010/main" val="164295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147771" y="1254996"/>
            <a:ext cx="4759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b="1" dirty="0" smtClean="0">
                <a:solidFill>
                  <a:srgbClr val="022969"/>
                </a:solidFill>
                <a:cs typeface="Calibri"/>
              </a:rPr>
              <a:t>Observar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el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consumo,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abrir el código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de la sentencia</a:t>
            </a: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6146" name="Imagen 10" descr="image02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" t="18300" r="9350" b="5509"/>
          <a:stretch/>
        </p:blipFill>
        <p:spPr bwMode="auto">
          <a:xfrm>
            <a:off x="276641" y="1924447"/>
            <a:ext cx="8200571" cy="3830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04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13" name="Imagen 12" descr="flecha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14" name="Conector recto 13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ángulo 14"/>
          <p:cNvSpPr/>
          <p:nvPr/>
        </p:nvSpPr>
        <p:spPr>
          <a:xfrm>
            <a:off x="1605855" y="303189"/>
            <a:ext cx="1897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revisar</a:t>
            </a:r>
          </a:p>
        </p:txBody>
      </p:sp>
    </p:spTree>
    <p:extLst>
      <p:ext uri="{BB962C8B-B14F-4D97-AF65-F5344CB8AC3E}">
        <p14:creationId xmlns:p14="http://schemas.microsoft.com/office/powerpoint/2010/main" val="172499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76641" y="1224526"/>
            <a:ext cx="475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b="1" dirty="0">
                <a:solidFill>
                  <a:srgbClr val="022969"/>
                </a:solidFill>
                <a:cs typeface="Calibri"/>
              </a:rPr>
              <a:t>Revisar código del query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7170" name="Imagen 11" descr="image02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68" b="3505"/>
          <a:stretch/>
        </p:blipFill>
        <p:spPr bwMode="auto">
          <a:xfrm>
            <a:off x="846684" y="1718340"/>
            <a:ext cx="6667394" cy="4383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uadroTexto 12"/>
          <p:cNvSpPr txBox="1"/>
          <p:nvPr/>
        </p:nvSpPr>
        <p:spPr>
          <a:xfrm>
            <a:off x="5134144" y="1254996"/>
            <a:ext cx="475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b="1" dirty="0">
                <a:solidFill>
                  <a:srgbClr val="022969"/>
                </a:solidFill>
                <a:cs typeface="Calibri"/>
              </a:rPr>
              <a:t>Buscar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likes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 o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distincts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14" name="Imagen 12" descr="image02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348" y="1771917"/>
            <a:ext cx="3387716" cy="1156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ángulo 14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04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16" name="Imagen 15" descr="flecha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18" name="Conector recto 17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ángulo 18"/>
          <p:cNvSpPr/>
          <p:nvPr/>
        </p:nvSpPr>
        <p:spPr>
          <a:xfrm>
            <a:off x="1605855" y="303189"/>
            <a:ext cx="1897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revisar</a:t>
            </a:r>
          </a:p>
        </p:txBody>
      </p:sp>
    </p:spTree>
    <p:extLst>
      <p:ext uri="{BB962C8B-B14F-4D97-AF65-F5344CB8AC3E}">
        <p14:creationId xmlns:p14="http://schemas.microsoft.com/office/powerpoint/2010/main" val="294652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5501" y="1224526"/>
            <a:ext cx="7810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b="1" dirty="0">
                <a:solidFill>
                  <a:srgbClr val="022969"/>
                </a:solidFill>
                <a:cs typeface="Calibri"/>
              </a:rPr>
              <a:t>Revisar la composición del query en busca de excesivos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selects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 anidados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9218" name="Imagen 15" descr="image02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79" r="45653"/>
          <a:stretch/>
        </p:blipFill>
        <p:spPr bwMode="auto">
          <a:xfrm>
            <a:off x="860981" y="1781175"/>
            <a:ext cx="6251018" cy="398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ángulo 14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04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16" name="Imagen 15" descr="flecha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18" name="Conector recto 17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ángulo 18"/>
          <p:cNvSpPr/>
          <p:nvPr/>
        </p:nvSpPr>
        <p:spPr>
          <a:xfrm>
            <a:off x="1605855" y="303189"/>
            <a:ext cx="1897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revisar</a:t>
            </a:r>
          </a:p>
        </p:txBody>
      </p:sp>
    </p:spTree>
    <p:extLst>
      <p:ext uri="{BB962C8B-B14F-4D97-AF65-F5344CB8AC3E}">
        <p14:creationId xmlns:p14="http://schemas.microsoft.com/office/powerpoint/2010/main" val="421037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5501" y="1224526"/>
            <a:ext cx="7810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b="1" dirty="0">
                <a:solidFill>
                  <a:srgbClr val="022969"/>
                </a:solidFill>
                <a:cs typeface="Calibri"/>
              </a:rPr>
              <a:t>Revisar el plan de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ejecución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por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table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access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 full, u operaciones que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estén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causando demoras en el query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04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1897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>
                <a:solidFill>
                  <a:srgbClr val="022969"/>
                </a:solidFill>
                <a:cs typeface="Calibri"/>
              </a:rPr>
              <a:t>Que revisar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10242" name="Imagen 20" descr="image03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29" y="2001593"/>
            <a:ext cx="8295859" cy="297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591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5501" y="1224526"/>
            <a:ext cx="7810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C" b="1" dirty="0">
                <a:solidFill>
                  <a:srgbClr val="022969"/>
                </a:solidFill>
                <a:cs typeface="Calibri"/>
              </a:rPr>
              <a:t>Revisar el plan de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ejecución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por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table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access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 full, u operaciones que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estén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causando demoras en el query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11" name="Imagen 10"/>
          <p:cNvPicPr/>
          <p:nvPr/>
        </p:nvPicPr>
        <p:blipFill rotWithShape="1">
          <a:blip r:embed="rId4"/>
          <a:srcRect r="26699"/>
          <a:stretch/>
        </p:blipFill>
        <p:spPr>
          <a:xfrm>
            <a:off x="285501" y="2221175"/>
            <a:ext cx="8403771" cy="3301499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04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13" name="Imagen 12" descr="flecha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14" name="Conector recto 13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ángulo 14"/>
          <p:cNvSpPr/>
          <p:nvPr/>
        </p:nvSpPr>
        <p:spPr>
          <a:xfrm>
            <a:off x="1605855" y="303189"/>
            <a:ext cx="18973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revisar</a:t>
            </a:r>
          </a:p>
        </p:txBody>
      </p:sp>
    </p:spTree>
    <p:extLst>
      <p:ext uri="{BB962C8B-B14F-4D97-AF65-F5344CB8AC3E}">
        <p14:creationId xmlns:p14="http://schemas.microsoft.com/office/powerpoint/2010/main" val="108801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5501" y="1679324"/>
            <a:ext cx="78107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Reestructurar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las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consultas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cs typeface="Calibri"/>
              </a:rPr>
              <a:t>Cambiar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Likes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 por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“=”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cs typeface="Calibri"/>
              </a:rPr>
              <a:t>Cambiar cruces de tablas con “,”por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joins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err="1">
                <a:solidFill>
                  <a:srgbClr val="022969"/>
                </a:solidFill>
                <a:cs typeface="Calibri"/>
              </a:rPr>
              <a:t>Fncfhasta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 reemplazar con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to_date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(‘29991231’,’yyyymmdd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’)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b="1" dirty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Revisar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los índices de las tablas y usarlos adecuadamente en las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consultas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b="1" dirty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No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usar demasiados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commits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s-EC" b="1" dirty="0">
              <a:solidFill>
                <a:srgbClr val="022969"/>
              </a:solidFill>
              <a:cs typeface="Calibri"/>
            </a:endParaRPr>
          </a:p>
          <a:p>
            <a:pPr lvl="1"/>
            <a:endParaRPr lang="es-EC" b="1" dirty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05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143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puede hacer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4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370829" y="1531226"/>
            <a:ext cx="78107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Usar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tablas temporales 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b="1" dirty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Usar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Tablas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CTE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b="1" dirty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Cambiar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subselects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 por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joins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C" b="1" dirty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Concepto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de Divide y vencerás</a:t>
            </a:r>
          </a:p>
          <a:p>
            <a:pPr lvl="1"/>
            <a:endParaRPr lang="es-EC" b="1" dirty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05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143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puede hacer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/>
          <a:srcRect r="44398"/>
          <a:stretch/>
        </p:blipFill>
        <p:spPr>
          <a:xfrm>
            <a:off x="4623469" y="1249671"/>
            <a:ext cx="4039143" cy="47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9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5501" y="1224526"/>
            <a:ext cx="78107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Usar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tablas temporales 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Usar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Tablas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CTE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Cambiar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subselects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 por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joins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Concepto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de Divide y vencerás</a:t>
            </a:r>
          </a:p>
          <a:p>
            <a:pPr lvl="1"/>
            <a:endParaRPr lang="es-EC" b="1" dirty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05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143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puede hacer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12" name="Imagen 11"/>
          <p:cNvPicPr/>
          <p:nvPr/>
        </p:nvPicPr>
        <p:blipFill rotWithShape="1">
          <a:blip r:embed="rId5"/>
          <a:srcRect t="63268" r="49562"/>
          <a:stretch/>
        </p:blipFill>
        <p:spPr>
          <a:xfrm>
            <a:off x="276641" y="2985364"/>
            <a:ext cx="4083932" cy="2240860"/>
          </a:xfrm>
          <a:prstGeom prst="rect">
            <a:avLst/>
          </a:prstGeom>
        </p:spPr>
      </p:pic>
      <p:pic>
        <p:nvPicPr>
          <p:cNvPr id="13" name="Imagen 12"/>
          <p:cNvPicPr/>
          <p:nvPr/>
        </p:nvPicPr>
        <p:blipFill rotWithShape="1">
          <a:blip r:embed="rId6"/>
          <a:srcRect l="18881" t="61008" r="49149" b="-1"/>
          <a:stretch/>
        </p:blipFill>
        <p:spPr>
          <a:xfrm>
            <a:off x="4649230" y="2846974"/>
            <a:ext cx="3948963" cy="2517639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663973" y="2485616"/>
            <a:ext cx="233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b="1" dirty="0" smtClean="0">
                <a:solidFill>
                  <a:srgbClr val="C00000"/>
                </a:solidFill>
                <a:cs typeface="Calibri"/>
              </a:rPr>
              <a:t>Antes de reestructurar</a:t>
            </a:r>
            <a:endParaRPr lang="es-EC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4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5501" y="1224526"/>
            <a:ext cx="78107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Usar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tablas temporales 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Usar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Tablas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CTE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Cambiar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subselects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 por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joins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Concepto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de Divide y vencerás</a:t>
            </a:r>
          </a:p>
          <a:p>
            <a:pPr lvl="1"/>
            <a:endParaRPr lang="es-EC" b="1" dirty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05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143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puede hacer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663973" y="2485616"/>
            <a:ext cx="2352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b="1" dirty="0" smtClean="0">
                <a:solidFill>
                  <a:srgbClr val="C00000"/>
                </a:solidFill>
                <a:cs typeface="Calibri"/>
              </a:rPr>
              <a:t>Luego de reestructurar</a:t>
            </a:r>
            <a:endParaRPr lang="es-EC" dirty="0">
              <a:solidFill>
                <a:srgbClr val="C00000"/>
              </a:solidFill>
            </a:endParaRPr>
          </a:p>
        </p:txBody>
      </p:sp>
      <p:pic>
        <p:nvPicPr>
          <p:cNvPr id="14" name="Imagen 13"/>
          <p:cNvPicPr/>
          <p:nvPr/>
        </p:nvPicPr>
        <p:blipFill rotWithShape="1">
          <a:blip r:embed="rId5"/>
          <a:srcRect l="26143" t="75171" r="33468"/>
          <a:stretch/>
        </p:blipFill>
        <p:spPr>
          <a:xfrm>
            <a:off x="460045" y="2919087"/>
            <a:ext cx="4289619" cy="2055691"/>
          </a:xfrm>
          <a:prstGeom prst="rect">
            <a:avLst/>
          </a:prstGeom>
        </p:spPr>
      </p:pic>
      <p:pic>
        <p:nvPicPr>
          <p:cNvPr id="15" name="Imagen 14" descr="C:\Users\BA0100~1\AppData\Local\Temp\SNAGHTML626a9981.PNG"/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06" t="54491" r="22291" b="15019"/>
          <a:stretch/>
        </p:blipFill>
        <p:spPr bwMode="auto">
          <a:xfrm>
            <a:off x="5468685" y="2919087"/>
            <a:ext cx="2154621" cy="22071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86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5501" y="1224526"/>
            <a:ext cx="78107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Usar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tablas temporales 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Usar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Tablas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CTE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Cambiar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subselects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 por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joins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Concepto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de Divide y vencerás</a:t>
            </a:r>
          </a:p>
          <a:p>
            <a:pPr lvl="1"/>
            <a:endParaRPr lang="es-EC" b="1" dirty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05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143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puede hacer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663973" y="2681898"/>
            <a:ext cx="1901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b="1" dirty="0" smtClean="0">
                <a:solidFill>
                  <a:srgbClr val="C00000"/>
                </a:solidFill>
                <a:cs typeface="Calibri"/>
              </a:rPr>
              <a:t>Validar resultados</a:t>
            </a:r>
            <a:endParaRPr lang="es-EC" dirty="0">
              <a:solidFill>
                <a:srgbClr val="C00000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45" y="3400606"/>
            <a:ext cx="8036683" cy="143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54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76641" y="1249671"/>
            <a:ext cx="7810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cs typeface="Calibri"/>
              </a:rPr>
              <a:t>Usar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binds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 (variables enlazadas)</a:t>
            </a:r>
            <a:endParaRPr lang="es-EC" b="1" dirty="0">
              <a:solidFill>
                <a:srgbClr val="022969"/>
              </a:solidFill>
              <a:cs typeface="Calibri"/>
            </a:endParaRPr>
          </a:p>
          <a:p>
            <a:pPr lvl="1"/>
            <a:endParaRPr lang="es-EC" b="1" dirty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05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143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puede hacer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13313" name="Picture 1" descr="image00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15" y="1672933"/>
            <a:ext cx="7492846" cy="4204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905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76641" y="1249671"/>
            <a:ext cx="7810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cs typeface="Calibri"/>
              </a:rPr>
              <a:t>Usar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binds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cs typeface="Calibri"/>
              </a:rPr>
              <a:t>Ejemplo de consulta que no usa </a:t>
            </a:r>
            <a:r>
              <a:rPr lang="es-EC" b="1" dirty="0" err="1">
                <a:solidFill>
                  <a:srgbClr val="022969"/>
                </a:solidFill>
                <a:cs typeface="Calibri"/>
              </a:rPr>
              <a:t>bindings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, la misma consulta donde solo varía el código de empleado genera 2 SQLID por este motivo. </a:t>
            </a:r>
          </a:p>
          <a:p>
            <a:pPr lvl="1"/>
            <a:endParaRPr lang="es-EC" b="1" dirty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05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143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puede hacer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17414" name="Imagen 7" descr="image00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657"/>
          <a:stretch/>
        </p:blipFill>
        <p:spPr bwMode="auto">
          <a:xfrm>
            <a:off x="872881" y="2217347"/>
            <a:ext cx="7418742" cy="174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Imagen 8" descr="image006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120"/>
          <a:stretch/>
        </p:blipFill>
        <p:spPr bwMode="auto">
          <a:xfrm>
            <a:off x="884896" y="4151690"/>
            <a:ext cx="7554990" cy="1715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638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76641" y="1249671"/>
            <a:ext cx="78107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cs typeface="Calibri"/>
              </a:rPr>
              <a:t>Usar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binds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cs typeface="Calibri"/>
              </a:rPr>
              <a:t>Ejemplo de consulta que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usa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binds</a:t>
            </a:r>
            <a:endParaRPr lang="es-EC" b="1" dirty="0">
              <a:solidFill>
                <a:srgbClr val="022969"/>
              </a:solidFill>
              <a:cs typeface="Calibri"/>
            </a:endParaRPr>
          </a:p>
          <a:p>
            <a:pPr lvl="1"/>
            <a:endParaRPr lang="es-EC" b="1" dirty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05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143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puede hacer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/>
          <a:srcRect l="4126" r="8588"/>
          <a:stretch/>
        </p:blipFill>
        <p:spPr>
          <a:xfrm>
            <a:off x="370829" y="2236908"/>
            <a:ext cx="8085762" cy="104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5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76641" y="1249671"/>
            <a:ext cx="78107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cs typeface="Calibri"/>
              </a:rPr>
              <a:t>No poner funciones en los campos 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Colocar en el 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valor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a comparar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Hacer uso de los índices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s-EC" b="1" dirty="0">
              <a:solidFill>
                <a:srgbClr val="022969"/>
              </a:solidFill>
              <a:cs typeface="Calibri"/>
            </a:endParaRPr>
          </a:p>
          <a:p>
            <a:pPr lvl="1"/>
            <a:endParaRPr lang="es-EC" b="1" dirty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05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143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puede hacer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10" name="Imagen 9"/>
          <p:cNvPicPr/>
          <p:nvPr/>
        </p:nvPicPr>
        <p:blipFill rotWithShape="1">
          <a:blip r:embed="rId5"/>
          <a:srcRect r="67123" b="7401"/>
          <a:stretch/>
        </p:blipFill>
        <p:spPr>
          <a:xfrm>
            <a:off x="1260590" y="2325965"/>
            <a:ext cx="5026355" cy="399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76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5501" y="1249671"/>
            <a:ext cx="7810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cs typeface="Calibri"/>
              </a:rPr>
              <a:t>No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usar “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Select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For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Update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” para actualizar o ingresar datos las tablas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Provoca bloqueos</a:t>
            </a:r>
            <a:endParaRPr lang="es-EC" b="1" dirty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05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143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puede hacer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/>
          <a:srcRect l="2603" t="23448" r="12166"/>
          <a:stretch/>
        </p:blipFill>
        <p:spPr>
          <a:xfrm>
            <a:off x="370829" y="1896002"/>
            <a:ext cx="8585200" cy="403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7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5501" y="1249671"/>
            <a:ext cx="7810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cs typeface="Calibri"/>
              </a:rPr>
              <a:t>No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usar “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Select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For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Update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” para actualizar o ingresar datos las tablas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Se debe usar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Updates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 e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Inserts</a:t>
            </a:r>
            <a:endParaRPr lang="es-EC" b="1" dirty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05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143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puede hacer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5"/>
          <a:srcRect l="4864" t="33085" r="33447" b="52557"/>
          <a:stretch/>
        </p:blipFill>
        <p:spPr>
          <a:xfrm>
            <a:off x="476250" y="2049232"/>
            <a:ext cx="7620000" cy="9271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6"/>
          <a:srcRect t="61996"/>
          <a:stretch/>
        </p:blipFill>
        <p:spPr>
          <a:xfrm>
            <a:off x="813937" y="3496499"/>
            <a:ext cx="6960792" cy="194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5501" y="1249671"/>
            <a:ext cx="7810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b="1" dirty="0">
                <a:solidFill>
                  <a:srgbClr val="022969"/>
                </a:solidFill>
                <a:cs typeface="Calibri"/>
              </a:rPr>
              <a:t>No 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usar “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Select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For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Update</a:t>
            </a:r>
            <a:r>
              <a:rPr lang="es-EC" b="1" dirty="0">
                <a:solidFill>
                  <a:srgbClr val="022969"/>
                </a:solidFill>
                <a:cs typeface="Calibri"/>
              </a:rPr>
              <a:t>” para actualizar o ingresar datos las tablas</a:t>
            </a:r>
            <a:endParaRPr lang="es-EC" b="1" dirty="0" smtClean="0">
              <a:solidFill>
                <a:srgbClr val="022969"/>
              </a:solidFill>
              <a:cs typeface="Calibri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C" b="1" dirty="0" smtClean="0">
                <a:solidFill>
                  <a:srgbClr val="022969"/>
                </a:solidFill>
                <a:cs typeface="Calibri"/>
              </a:rPr>
              <a:t>Se debe usar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Updates</a:t>
            </a:r>
            <a:r>
              <a:rPr lang="es-EC" b="1" dirty="0" smtClean="0">
                <a:solidFill>
                  <a:srgbClr val="022969"/>
                </a:solidFill>
                <a:cs typeface="Calibri"/>
              </a:rPr>
              <a:t> e </a:t>
            </a:r>
            <a:r>
              <a:rPr lang="es-EC" b="1" dirty="0" err="1" smtClean="0">
                <a:solidFill>
                  <a:srgbClr val="022969"/>
                </a:solidFill>
                <a:cs typeface="Calibri"/>
              </a:rPr>
              <a:t>Inserts</a:t>
            </a:r>
            <a:endParaRPr lang="es-EC" b="1" dirty="0">
              <a:solidFill>
                <a:srgbClr val="022969"/>
              </a:solidFill>
              <a:cs typeface="Calibri"/>
            </a:endParaRPr>
          </a:p>
        </p:txBody>
      </p:sp>
      <p:pic>
        <p:nvPicPr>
          <p:cNvPr id="24" name="Imagen 23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41" y="6329490"/>
            <a:ext cx="709348" cy="243669"/>
          </a:xfrm>
          <a:prstGeom prst="rect">
            <a:avLst/>
          </a:prstGeom>
        </p:spPr>
      </p:pic>
      <p:sp>
        <p:nvSpPr>
          <p:cNvPr id="28" name="Rectángulo 27"/>
          <p:cNvSpPr/>
          <p:nvPr/>
        </p:nvSpPr>
        <p:spPr>
          <a:xfrm>
            <a:off x="460045" y="49342"/>
            <a:ext cx="112082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7200" b="1" dirty="0" smtClean="0">
                <a:solidFill>
                  <a:srgbClr val="022969"/>
                </a:solidFill>
                <a:latin typeface="Calibri"/>
                <a:cs typeface="Calibri"/>
              </a:rPr>
              <a:t>05</a:t>
            </a:r>
            <a:endParaRPr lang="es-ES" sz="7200" dirty="0">
              <a:solidFill>
                <a:srgbClr val="141D75"/>
              </a:solidFill>
              <a:latin typeface="Calibri"/>
              <a:cs typeface="Calibri"/>
            </a:endParaRPr>
          </a:p>
        </p:txBody>
      </p:sp>
      <p:pic>
        <p:nvPicPr>
          <p:cNvPr id="29" name="Imagen 28" descr="flec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01" y="569893"/>
            <a:ext cx="170656" cy="303310"/>
          </a:xfrm>
          <a:prstGeom prst="rect">
            <a:avLst/>
          </a:prstGeom>
        </p:spPr>
      </p:pic>
      <p:cxnSp>
        <p:nvCxnSpPr>
          <p:cNvPr id="30" name="Conector recto 29"/>
          <p:cNvCxnSpPr/>
          <p:nvPr/>
        </p:nvCxnSpPr>
        <p:spPr>
          <a:xfrm>
            <a:off x="1553395" y="289868"/>
            <a:ext cx="0" cy="868905"/>
          </a:xfrm>
          <a:prstGeom prst="line">
            <a:avLst/>
          </a:prstGeom>
          <a:ln w="19050" cmpd="sng">
            <a:solidFill>
              <a:srgbClr val="02215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605855" y="303189"/>
            <a:ext cx="3143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022969"/>
                </a:solidFill>
                <a:latin typeface="Calibri"/>
                <a:cs typeface="Calibri"/>
              </a:rPr>
              <a:t>Que se puede hacer</a:t>
            </a:r>
          </a:p>
        </p:txBody>
      </p:sp>
      <p:pic>
        <p:nvPicPr>
          <p:cNvPr id="17" name="Imagen 16" descr="bda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654" y="6195848"/>
            <a:ext cx="2200150" cy="38062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5"/>
          <a:srcRect l="3322" t="18216" r="34085" b="11844"/>
          <a:stretch/>
        </p:blipFill>
        <p:spPr>
          <a:xfrm>
            <a:off x="1255945" y="2026738"/>
            <a:ext cx="6452956" cy="376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5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140" y="3230135"/>
            <a:ext cx="4787477" cy="82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7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16810</TotalTime>
  <Words>497</Words>
  <Application>Microsoft Office PowerPoint</Application>
  <PresentationFormat>Presentación en pantalla (4:3)</PresentationFormat>
  <Paragraphs>134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9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Banco</dc:creator>
  <cp:lastModifiedBy>Criollo, Boris</cp:lastModifiedBy>
  <cp:revision>110</cp:revision>
  <cp:lastPrinted>2021-05-26T21:52:07Z</cp:lastPrinted>
  <dcterms:created xsi:type="dcterms:W3CDTF">2020-01-31T20:46:53Z</dcterms:created>
  <dcterms:modified xsi:type="dcterms:W3CDTF">2021-09-30T15:54:10Z</dcterms:modified>
</cp:coreProperties>
</file>